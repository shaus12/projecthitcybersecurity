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5199975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-235" y="-52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5891626"/>
            <a:ext cx="21419979" cy="12533242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18908198"/>
            <a:ext cx="18899981" cy="8691601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0802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672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8974945"/>
            <a:ext cx="21734978" cy="14974888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24091502"/>
            <a:ext cx="21734978" cy="7874940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0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9583264"/>
            <a:ext cx="10709989" cy="2284150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9583264"/>
            <a:ext cx="10709989" cy="2284150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884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1916661"/>
            <a:ext cx="21734978" cy="695828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8824938"/>
            <a:ext cx="10660769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3149904"/>
            <a:ext cx="10660769" cy="193415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8824938"/>
            <a:ext cx="10713272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3149904"/>
            <a:ext cx="10713272" cy="193415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9586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518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0265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5183304"/>
            <a:ext cx="12757487" cy="25583147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435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5183304"/>
            <a:ext cx="12757487" cy="25583147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4069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0168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1916653"/>
            <a:ext cx="5433745" cy="30508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1916653"/>
            <a:ext cx="15986234" cy="3050811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08925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1916661"/>
            <a:ext cx="21734978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9583264"/>
            <a:ext cx="21734978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F86DA2-6F35-4111-ACB3-E2300C0C7C15}" type="datetimeFigureOut">
              <a:rPr lang="en-GB" smtClean="0"/>
              <a:t>14/10/2024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33366432"/>
            <a:ext cx="850499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2802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519995" rtl="0" eaLnBrk="1" latinLnBrk="0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0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hyperlink" Target="https://academic.hit.ac.il/students/computing-services/labs/laboratories-list/Center_of_Computer_Labs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55D3C5-B04D-41A5-9B17-C157FCAEF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088567"/>
              </p:ext>
            </p:extLst>
          </p:nvPr>
        </p:nvGraphicFramePr>
        <p:xfrm>
          <a:off x="818147" y="665380"/>
          <a:ext cx="23509706" cy="3563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8590">
                  <a:extLst>
                    <a:ext uri="{9D8B030D-6E8A-4147-A177-3AD203B41FA5}">
                      <a16:colId xmlns:a16="http://schemas.microsoft.com/office/drawing/2014/main" val="4092810084"/>
                    </a:ext>
                  </a:extLst>
                </a:gridCol>
                <a:gridCol w="13210674">
                  <a:extLst>
                    <a:ext uri="{9D8B030D-6E8A-4147-A177-3AD203B41FA5}">
                      <a16:colId xmlns:a16="http://schemas.microsoft.com/office/drawing/2014/main" val="3944608498"/>
                    </a:ext>
                  </a:extLst>
                </a:gridCol>
                <a:gridCol w="4740442">
                  <a:extLst>
                    <a:ext uri="{9D8B030D-6E8A-4147-A177-3AD203B41FA5}">
                      <a16:colId xmlns:a16="http://schemas.microsoft.com/office/drawing/2014/main" val="3295376166"/>
                    </a:ext>
                  </a:extLst>
                </a:gridCol>
              </a:tblGrid>
              <a:tr h="1781860">
                <a:tc>
                  <a:txBody>
                    <a:bodyPr/>
                    <a:lstStyle/>
                    <a:p>
                      <a:pPr marL="0" marR="0" lvl="0" indent="0" algn="ctr" defTabSz="251999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4000" dirty="0" smtClean="0">
                          <a:solidFill>
                            <a:srgbClr val="0A2540"/>
                          </a:solidFill>
                        </a:rPr>
                        <a:t>Introduction to AI-Driven Cyber Security</a:t>
                      </a:r>
                      <a:endParaRPr lang="en-GB" sz="4000" dirty="0"/>
                    </a:p>
                  </a:txBody>
                  <a:tcPr anchor="ctr">
                    <a:solidFill>
                      <a:srgbClr val="00999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600" dirty="0" smtClean="0">
                          <a:solidFill>
                            <a:srgbClr val="0A2540"/>
                          </a:solidFill>
                        </a:rPr>
                        <a:t>Malware Classification via PE Header Analysis</a:t>
                      </a:r>
                      <a:endParaRPr lang="he-IL" sz="7600" dirty="0" smtClean="0"/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5400" dirty="0" smtClean="0">
                          <a:solidFill>
                            <a:srgbClr val="0A2540"/>
                          </a:solidFill>
                        </a:rPr>
                        <a:t>Shai Shotashvili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4000" b="1" kern="1200" dirty="0" smtClean="0">
                          <a:solidFill>
                            <a:srgbClr val="0A2540"/>
                          </a:solidFill>
                          <a:latin typeface="+mn-lt"/>
                          <a:ea typeface="+mn-ea"/>
                          <a:cs typeface="+mn-cs"/>
                        </a:rPr>
                        <a:t>Spring Semester, 2026</a:t>
                      </a:r>
                      <a:endParaRPr lang="en-GB" sz="40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t" marT="72000" marB="18000">
                    <a:solidFill>
                      <a:srgbClr val="009999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067825"/>
                  </a:ext>
                </a:extLst>
              </a:tr>
              <a:tr h="1781860">
                <a:tc>
                  <a:txBody>
                    <a:bodyPr/>
                    <a:lstStyle/>
                    <a:p>
                      <a:pPr marL="0" marR="0" lvl="0" indent="0" algn="ctr" defTabSz="2519995" rtl="0" eaLnBrk="1" fontAlgn="auto" latinLnBrk="0" hangingPunct="1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5400" b="1" dirty="0" smtClean="0">
                          <a:solidFill>
                            <a:srgbClr val="0A2540"/>
                          </a:solidFill>
                        </a:rPr>
                        <a:t>Vyacheslav Nepdov</a:t>
                      </a:r>
                      <a:endParaRPr lang="en-GB" sz="5400" b="1" dirty="0">
                        <a:solidFill>
                          <a:schemeClr val="bg1"/>
                        </a:solidFill>
                      </a:endParaRPr>
                    </a:p>
                  </a:txBody>
                  <a:tcPr anchor="t" marT="54000" marB="18000">
                    <a:solidFill>
                      <a:srgbClr val="00999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700668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2E9B59-38DC-46AD-A4E5-9A55979323A6}"/>
              </a:ext>
            </a:extLst>
          </p:cNvPr>
          <p:cNvSpPr/>
          <p:nvPr/>
        </p:nvSpPr>
        <p:spPr>
          <a:xfrm>
            <a:off x="818147" y="4591050"/>
            <a:ext cx="23509706" cy="30743308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A254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46410" y="921852"/>
            <a:ext cx="4378492" cy="30923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04000" y="4896000"/>
            <a:ext cx="1072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A2540"/>
                </a:solidFill>
                <a:latin typeface="Calibri"/>
              </a:rPr>
              <a:t>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4000" y="5526000"/>
            <a:ext cx="3240000" cy="6480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4000" y="5652000"/>
            <a:ext cx="10728000" cy="48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Modern malware uses packing and encryption to evade signature-based antivirus. MalwareGuard is an AI-driven defensive tool that classifies Windows executables as benign or malicious from the structural metadata in their PE (Portable Executable) headers — signals attackers cannot hide without breaking the file.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0A2540"/>
                </a:solidFill>
                <a:latin typeface="Calibri"/>
              </a:rPr>
              <a:t>Goals: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Build an ML classifier from PE-header features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Test its robustness to adversarial evasion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Deliver an analyst MVP with logging &amp; alerting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4000" y="11664000"/>
            <a:ext cx="1072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A2540"/>
                </a:solidFill>
                <a:latin typeface="Calibri"/>
              </a:rPr>
              <a:t>Methodology &amp;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4000" y="12294000"/>
            <a:ext cx="3240000" cy="6480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4000" y="12420000"/>
            <a:ext cx="1072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Data: 1,000 labeled samples — VirtualSize, Entropy, NumberOfSections, Characteristics (80/20 split)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Model: Random Forest (100 trees); baseline = threshold heuristic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Stack: Python · scikit-learn · Streamlit · Joblib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Pipeline: features → inference → prediction + confidence → audit log + visual alert</a:t>
            </a:r>
          </a:p>
        </p:txBody>
      </p:sp>
      <p:pic>
        <p:nvPicPr>
          <p:cNvPr id="11" name="Picture 10" descr="fig_sepa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8000" y="16704000"/>
            <a:ext cx="9360000" cy="6578264"/>
          </a:xfrm>
          <a:prstGeom prst="rect">
            <a:avLst/>
          </a:prstGeom>
        </p:spPr>
      </p:pic>
      <p:pic>
        <p:nvPicPr>
          <p:cNvPr id="12" name="Picture 11" descr="fig_import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8000" y="24192000"/>
            <a:ext cx="9360000" cy="55110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816000" y="4896000"/>
            <a:ext cx="1072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A2540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16000" y="5526000"/>
            <a:ext cx="3240000" cy="6480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6000" y="5652000"/>
            <a:ext cx="10728000" cy="34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100% accuracy / F1 = 1.0 on the held-out test set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Entropy &amp; VirtualSize are the most discriminative features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Adversarial test: raising Entropy + VirtualSize flips a benign file to “Malware” exactly as it enters the malicious range — the model reacts to the intended security signals</a:t>
            </a:r>
          </a:p>
        </p:txBody>
      </p:sp>
      <p:pic>
        <p:nvPicPr>
          <p:cNvPr id="16" name="Picture 15" descr="fig_confu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56000" y="9144000"/>
            <a:ext cx="4860000" cy="4356220"/>
          </a:xfrm>
          <a:prstGeom prst="rect">
            <a:avLst/>
          </a:prstGeom>
        </p:spPr>
      </p:pic>
      <p:pic>
        <p:nvPicPr>
          <p:cNvPr id="17" name="Picture 16" descr="fig_adversari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320000" y="13824000"/>
            <a:ext cx="9720000" cy="55381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816000" y="20664000"/>
            <a:ext cx="1072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A2540"/>
                </a:solidFill>
                <a:latin typeface="Calibri"/>
              </a:rPr>
              <a:t>Conclusions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16000" y="21294000"/>
            <a:ext cx="3240000" cy="6480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16000" y="21420000"/>
            <a:ext cx="107280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All three goals achieved: working classifier, robustness evaluation, deployable MVP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Structural PE-header analysis is an effective, lightweight complement to signature-based detection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Results meet the targets defined at project start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16000" y="25272000"/>
            <a:ext cx="1072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A2540"/>
                </a:solidFill>
                <a:latin typeface="Calibri"/>
              </a:rPr>
              <a:t>Discussions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16000" y="25902000"/>
            <a:ext cx="3240000" cy="6480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16000" y="26028000"/>
            <a:ext cx="8028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0A2540"/>
                </a:solidFill>
                <a:latin typeface="Calibri"/>
              </a:rPr>
              <a:t>Future work: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Retrain on real corpora (EMBER, MalwareBazaar)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Add deep models (CNN/LSTM) over API-call / byte sequences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3400" b="0">
                <a:solidFill>
                  <a:srgbClr val="1C2B36"/>
                </a:solidFill>
                <a:latin typeface="Calibri"/>
              </a:rPr>
              <a:t>•  Harden against entropy-balancing evasion; integrate into a SOC triage pipeline</a:t>
            </a:r>
          </a:p>
        </p:txBody>
      </p:sp>
      <p:pic>
        <p:nvPicPr>
          <p:cNvPr id="24" name="Picture 23" descr="qr_rep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2000" y="30960000"/>
            <a:ext cx="2376000" cy="237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0412000" y="33408000"/>
            <a:ext cx="3456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A2540"/>
                </a:solidFill>
                <a:latin typeface="Calibri"/>
              </a:rPr>
              <a:t>Source code &amp; video ▶</a:t>
            </a:r>
          </a:p>
        </p:txBody>
      </p:sp>
    </p:spTree>
    <p:extLst>
      <p:ext uri="{BB962C8B-B14F-4D97-AF65-F5344CB8AC3E}">
        <p14:creationId xmlns:p14="http://schemas.microsoft.com/office/powerpoint/2010/main" val="1360458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4187</TotalTime>
  <Words>376</Words>
  <Application>Microsoft Office PowerPoint</Application>
  <PresentationFormat>Custom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Dmitry Patashov</dc:creator>
  <cp:lastModifiedBy>Yakov Damatov</cp:lastModifiedBy>
  <cp:revision>52</cp:revision>
  <dcterms:created xsi:type="dcterms:W3CDTF">2019-01-27T10:54:29Z</dcterms:created>
  <dcterms:modified xsi:type="dcterms:W3CDTF">2024-10-15T06:30:20Z</dcterms:modified>
</cp:coreProperties>
</file>