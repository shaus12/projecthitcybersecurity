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25199975" cy="359997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-235" y="-520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89998" y="5891626"/>
            <a:ext cx="21419979" cy="12533242"/>
          </a:xfrm>
        </p:spPr>
        <p:txBody>
          <a:bodyPr anchor="b"/>
          <a:lstStyle>
            <a:lvl1pPr algn="ctr">
              <a:defRPr sz="1653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49997" y="18908198"/>
            <a:ext cx="18899981" cy="8691601"/>
          </a:xfrm>
        </p:spPr>
        <p:txBody>
          <a:bodyPr/>
          <a:lstStyle>
            <a:lvl1pPr marL="0" indent="0" algn="ctr">
              <a:buNone/>
              <a:defRPr sz="6614"/>
            </a:lvl1pPr>
            <a:lvl2pPr marL="1259997" indent="0" algn="ctr">
              <a:buNone/>
              <a:defRPr sz="5512"/>
            </a:lvl2pPr>
            <a:lvl3pPr marL="2519995" indent="0" algn="ctr">
              <a:buNone/>
              <a:defRPr sz="4961"/>
            </a:lvl3pPr>
            <a:lvl4pPr marL="3779992" indent="0" algn="ctr">
              <a:buNone/>
              <a:defRPr sz="4409"/>
            </a:lvl4pPr>
            <a:lvl5pPr marL="5039990" indent="0" algn="ctr">
              <a:buNone/>
              <a:defRPr sz="4409"/>
            </a:lvl5pPr>
            <a:lvl6pPr marL="6299987" indent="0" algn="ctr">
              <a:buNone/>
              <a:defRPr sz="4409"/>
            </a:lvl6pPr>
            <a:lvl7pPr marL="7559985" indent="0" algn="ctr">
              <a:buNone/>
              <a:defRPr sz="4409"/>
            </a:lvl7pPr>
            <a:lvl8pPr marL="8819982" indent="0" algn="ctr">
              <a:buNone/>
              <a:defRPr sz="4409"/>
            </a:lvl8pPr>
            <a:lvl9pPr marL="10079980" indent="0" algn="ctr">
              <a:buNone/>
              <a:defRPr sz="440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DA2-6F35-4111-ACB3-E2300C0C7C15}" type="datetimeFigureOut">
              <a:rPr lang="en-GB" smtClean="0"/>
              <a:t>14/10/2024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CB9A-9BA4-4F40-AC33-1A1DB0F02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0802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DA2-6F35-4111-ACB3-E2300C0C7C15}" type="datetimeFigureOut">
              <a:rPr lang="en-GB" smtClean="0"/>
              <a:t>14/10/2024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CB9A-9BA4-4F40-AC33-1A1DB0F02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2672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9375" y="8974945"/>
            <a:ext cx="21734978" cy="14974888"/>
          </a:xfrm>
        </p:spPr>
        <p:txBody>
          <a:bodyPr anchor="b"/>
          <a:lstStyle>
            <a:lvl1pPr>
              <a:defRPr sz="1653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9375" y="24091502"/>
            <a:ext cx="21734978" cy="7874940"/>
          </a:xfrm>
        </p:spPr>
        <p:txBody>
          <a:bodyPr/>
          <a:lstStyle>
            <a:lvl1pPr marL="0" indent="0">
              <a:buNone/>
              <a:defRPr sz="6614">
                <a:solidFill>
                  <a:schemeClr val="tx1"/>
                </a:solidFill>
              </a:defRPr>
            </a:lvl1pPr>
            <a:lvl2pPr marL="1259997" indent="0">
              <a:buNone/>
              <a:defRPr sz="5512">
                <a:solidFill>
                  <a:schemeClr val="tx1">
                    <a:tint val="75000"/>
                  </a:schemeClr>
                </a:solidFill>
              </a:defRPr>
            </a:lvl2pPr>
            <a:lvl3pPr marL="2519995" indent="0">
              <a:buNone/>
              <a:defRPr sz="4961">
                <a:solidFill>
                  <a:schemeClr val="tx1">
                    <a:tint val="75000"/>
                  </a:schemeClr>
                </a:solidFill>
              </a:defRPr>
            </a:lvl3pPr>
            <a:lvl4pPr marL="3779992" indent="0">
              <a:buNone/>
              <a:defRPr sz="4409">
                <a:solidFill>
                  <a:schemeClr val="tx1">
                    <a:tint val="75000"/>
                  </a:schemeClr>
                </a:solidFill>
              </a:defRPr>
            </a:lvl4pPr>
            <a:lvl5pPr marL="5039990" indent="0">
              <a:buNone/>
              <a:defRPr sz="4409">
                <a:solidFill>
                  <a:schemeClr val="tx1">
                    <a:tint val="75000"/>
                  </a:schemeClr>
                </a:solidFill>
              </a:defRPr>
            </a:lvl5pPr>
            <a:lvl6pPr marL="6299987" indent="0">
              <a:buNone/>
              <a:defRPr sz="4409">
                <a:solidFill>
                  <a:schemeClr val="tx1">
                    <a:tint val="75000"/>
                  </a:schemeClr>
                </a:solidFill>
              </a:defRPr>
            </a:lvl6pPr>
            <a:lvl7pPr marL="7559985" indent="0">
              <a:buNone/>
              <a:defRPr sz="4409">
                <a:solidFill>
                  <a:schemeClr val="tx1">
                    <a:tint val="75000"/>
                  </a:schemeClr>
                </a:solidFill>
              </a:defRPr>
            </a:lvl7pPr>
            <a:lvl8pPr marL="8819982" indent="0">
              <a:buNone/>
              <a:defRPr sz="4409">
                <a:solidFill>
                  <a:schemeClr val="tx1">
                    <a:tint val="75000"/>
                  </a:schemeClr>
                </a:solidFill>
              </a:defRPr>
            </a:lvl8pPr>
            <a:lvl9pPr marL="10079980" indent="0">
              <a:buNone/>
              <a:defRPr sz="440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DA2-6F35-4111-ACB3-E2300C0C7C15}" type="datetimeFigureOut">
              <a:rPr lang="en-GB" smtClean="0"/>
              <a:t>14/10/2024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CB9A-9BA4-4F40-AC33-1A1DB0F02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409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32498" y="9583264"/>
            <a:ext cx="10709989" cy="2284150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757488" y="9583264"/>
            <a:ext cx="10709989" cy="2284150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DA2-6F35-4111-ACB3-E2300C0C7C15}" type="datetimeFigureOut">
              <a:rPr lang="en-GB" smtClean="0"/>
              <a:t>14/10/2024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CB9A-9BA4-4F40-AC33-1A1DB0F02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3884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1" y="1916661"/>
            <a:ext cx="21734978" cy="695828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5783" y="8824938"/>
            <a:ext cx="10660769" cy="4324966"/>
          </a:xfrm>
        </p:spPr>
        <p:txBody>
          <a:bodyPr anchor="b"/>
          <a:lstStyle>
            <a:lvl1pPr marL="0" indent="0">
              <a:buNone/>
              <a:defRPr sz="6614" b="1"/>
            </a:lvl1pPr>
            <a:lvl2pPr marL="1259997" indent="0">
              <a:buNone/>
              <a:defRPr sz="5512" b="1"/>
            </a:lvl2pPr>
            <a:lvl3pPr marL="2519995" indent="0">
              <a:buNone/>
              <a:defRPr sz="4961" b="1"/>
            </a:lvl3pPr>
            <a:lvl4pPr marL="3779992" indent="0">
              <a:buNone/>
              <a:defRPr sz="4409" b="1"/>
            </a:lvl4pPr>
            <a:lvl5pPr marL="5039990" indent="0">
              <a:buNone/>
              <a:defRPr sz="4409" b="1"/>
            </a:lvl5pPr>
            <a:lvl6pPr marL="6299987" indent="0">
              <a:buNone/>
              <a:defRPr sz="4409" b="1"/>
            </a:lvl6pPr>
            <a:lvl7pPr marL="7559985" indent="0">
              <a:buNone/>
              <a:defRPr sz="4409" b="1"/>
            </a:lvl7pPr>
            <a:lvl8pPr marL="8819982" indent="0">
              <a:buNone/>
              <a:defRPr sz="4409" b="1"/>
            </a:lvl8pPr>
            <a:lvl9pPr marL="10079980" indent="0">
              <a:buNone/>
              <a:defRPr sz="4409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35783" y="13149904"/>
            <a:ext cx="10660769" cy="1934152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757489" y="8824938"/>
            <a:ext cx="10713272" cy="4324966"/>
          </a:xfrm>
        </p:spPr>
        <p:txBody>
          <a:bodyPr anchor="b"/>
          <a:lstStyle>
            <a:lvl1pPr marL="0" indent="0">
              <a:buNone/>
              <a:defRPr sz="6614" b="1"/>
            </a:lvl1pPr>
            <a:lvl2pPr marL="1259997" indent="0">
              <a:buNone/>
              <a:defRPr sz="5512" b="1"/>
            </a:lvl2pPr>
            <a:lvl3pPr marL="2519995" indent="0">
              <a:buNone/>
              <a:defRPr sz="4961" b="1"/>
            </a:lvl3pPr>
            <a:lvl4pPr marL="3779992" indent="0">
              <a:buNone/>
              <a:defRPr sz="4409" b="1"/>
            </a:lvl4pPr>
            <a:lvl5pPr marL="5039990" indent="0">
              <a:buNone/>
              <a:defRPr sz="4409" b="1"/>
            </a:lvl5pPr>
            <a:lvl6pPr marL="6299987" indent="0">
              <a:buNone/>
              <a:defRPr sz="4409" b="1"/>
            </a:lvl6pPr>
            <a:lvl7pPr marL="7559985" indent="0">
              <a:buNone/>
              <a:defRPr sz="4409" b="1"/>
            </a:lvl7pPr>
            <a:lvl8pPr marL="8819982" indent="0">
              <a:buNone/>
              <a:defRPr sz="4409" b="1"/>
            </a:lvl8pPr>
            <a:lvl9pPr marL="10079980" indent="0">
              <a:buNone/>
              <a:defRPr sz="4409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757489" y="13149904"/>
            <a:ext cx="10713272" cy="1934152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DA2-6F35-4111-ACB3-E2300C0C7C15}" type="datetimeFigureOut">
              <a:rPr lang="en-GB" smtClean="0"/>
              <a:t>14/10/2024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CB9A-9BA4-4F40-AC33-1A1DB0F02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9586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DA2-6F35-4111-ACB3-E2300C0C7C15}" type="datetimeFigureOut">
              <a:rPr lang="en-GB" smtClean="0"/>
              <a:t>14/10/2024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CB9A-9BA4-4F40-AC33-1A1DB0F02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2518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DA2-6F35-4111-ACB3-E2300C0C7C15}" type="datetimeFigureOut">
              <a:rPr lang="en-GB" smtClean="0"/>
              <a:t>14/10/2024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CB9A-9BA4-4F40-AC33-1A1DB0F02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0265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0" y="2399982"/>
            <a:ext cx="8127648" cy="8399939"/>
          </a:xfrm>
        </p:spPr>
        <p:txBody>
          <a:bodyPr anchor="b"/>
          <a:lstStyle>
            <a:lvl1pPr>
              <a:defRPr sz="88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13272" y="5183304"/>
            <a:ext cx="12757487" cy="25583147"/>
          </a:xfrm>
        </p:spPr>
        <p:txBody>
          <a:bodyPr/>
          <a:lstStyle>
            <a:lvl1pPr>
              <a:defRPr sz="8819"/>
            </a:lvl1pPr>
            <a:lvl2pPr>
              <a:defRPr sz="7717"/>
            </a:lvl2pPr>
            <a:lvl3pPr>
              <a:defRPr sz="6614"/>
            </a:lvl3pPr>
            <a:lvl4pPr>
              <a:defRPr sz="5512"/>
            </a:lvl4pPr>
            <a:lvl5pPr>
              <a:defRPr sz="5512"/>
            </a:lvl5pPr>
            <a:lvl6pPr>
              <a:defRPr sz="5512"/>
            </a:lvl6pPr>
            <a:lvl7pPr>
              <a:defRPr sz="5512"/>
            </a:lvl7pPr>
            <a:lvl8pPr>
              <a:defRPr sz="5512"/>
            </a:lvl8pPr>
            <a:lvl9pPr>
              <a:defRPr sz="5512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5780" y="10799922"/>
            <a:ext cx="8127648" cy="20008190"/>
          </a:xfrm>
        </p:spPr>
        <p:txBody>
          <a:bodyPr/>
          <a:lstStyle>
            <a:lvl1pPr marL="0" indent="0">
              <a:buNone/>
              <a:defRPr sz="4409"/>
            </a:lvl1pPr>
            <a:lvl2pPr marL="1259997" indent="0">
              <a:buNone/>
              <a:defRPr sz="3858"/>
            </a:lvl2pPr>
            <a:lvl3pPr marL="2519995" indent="0">
              <a:buNone/>
              <a:defRPr sz="3307"/>
            </a:lvl3pPr>
            <a:lvl4pPr marL="3779992" indent="0">
              <a:buNone/>
              <a:defRPr sz="2756"/>
            </a:lvl4pPr>
            <a:lvl5pPr marL="5039990" indent="0">
              <a:buNone/>
              <a:defRPr sz="2756"/>
            </a:lvl5pPr>
            <a:lvl6pPr marL="6299987" indent="0">
              <a:buNone/>
              <a:defRPr sz="2756"/>
            </a:lvl6pPr>
            <a:lvl7pPr marL="7559985" indent="0">
              <a:buNone/>
              <a:defRPr sz="2756"/>
            </a:lvl7pPr>
            <a:lvl8pPr marL="8819982" indent="0">
              <a:buNone/>
              <a:defRPr sz="2756"/>
            </a:lvl8pPr>
            <a:lvl9pPr marL="10079980" indent="0">
              <a:buNone/>
              <a:defRPr sz="2756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DA2-6F35-4111-ACB3-E2300C0C7C15}" type="datetimeFigureOut">
              <a:rPr lang="en-GB" smtClean="0"/>
              <a:t>14/10/2024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CB9A-9BA4-4F40-AC33-1A1DB0F02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1435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0" y="2399982"/>
            <a:ext cx="8127648" cy="8399939"/>
          </a:xfrm>
        </p:spPr>
        <p:txBody>
          <a:bodyPr anchor="b"/>
          <a:lstStyle>
            <a:lvl1pPr>
              <a:defRPr sz="88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713272" y="5183304"/>
            <a:ext cx="12757487" cy="25583147"/>
          </a:xfrm>
        </p:spPr>
        <p:txBody>
          <a:bodyPr anchor="t"/>
          <a:lstStyle>
            <a:lvl1pPr marL="0" indent="0">
              <a:buNone/>
              <a:defRPr sz="8819"/>
            </a:lvl1pPr>
            <a:lvl2pPr marL="1259997" indent="0">
              <a:buNone/>
              <a:defRPr sz="7717"/>
            </a:lvl2pPr>
            <a:lvl3pPr marL="2519995" indent="0">
              <a:buNone/>
              <a:defRPr sz="6614"/>
            </a:lvl3pPr>
            <a:lvl4pPr marL="3779992" indent="0">
              <a:buNone/>
              <a:defRPr sz="5512"/>
            </a:lvl4pPr>
            <a:lvl5pPr marL="5039990" indent="0">
              <a:buNone/>
              <a:defRPr sz="5512"/>
            </a:lvl5pPr>
            <a:lvl6pPr marL="6299987" indent="0">
              <a:buNone/>
              <a:defRPr sz="5512"/>
            </a:lvl6pPr>
            <a:lvl7pPr marL="7559985" indent="0">
              <a:buNone/>
              <a:defRPr sz="5512"/>
            </a:lvl7pPr>
            <a:lvl8pPr marL="8819982" indent="0">
              <a:buNone/>
              <a:defRPr sz="5512"/>
            </a:lvl8pPr>
            <a:lvl9pPr marL="10079980" indent="0">
              <a:buNone/>
              <a:defRPr sz="551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5780" y="10799922"/>
            <a:ext cx="8127648" cy="20008190"/>
          </a:xfrm>
        </p:spPr>
        <p:txBody>
          <a:bodyPr/>
          <a:lstStyle>
            <a:lvl1pPr marL="0" indent="0">
              <a:buNone/>
              <a:defRPr sz="4409"/>
            </a:lvl1pPr>
            <a:lvl2pPr marL="1259997" indent="0">
              <a:buNone/>
              <a:defRPr sz="3858"/>
            </a:lvl2pPr>
            <a:lvl3pPr marL="2519995" indent="0">
              <a:buNone/>
              <a:defRPr sz="3307"/>
            </a:lvl3pPr>
            <a:lvl4pPr marL="3779992" indent="0">
              <a:buNone/>
              <a:defRPr sz="2756"/>
            </a:lvl4pPr>
            <a:lvl5pPr marL="5039990" indent="0">
              <a:buNone/>
              <a:defRPr sz="2756"/>
            </a:lvl5pPr>
            <a:lvl6pPr marL="6299987" indent="0">
              <a:buNone/>
              <a:defRPr sz="2756"/>
            </a:lvl6pPr>
            <a:lvl7pPr marL="7559985" indent="0">
              <a:buNone/>
              <a:defRPr sz="2756"/>
            </a:lvl7pPr>
            <a:lvl8pPr marL="8819982" indent="0">
              <a:buNone/>
              <a:defRPr sz="2756"/>
            </a:lvl8pPr>
            <a:lvl9pPr marL="10079980" indent="0">
              <a:buNone/>
              <a:defRPr sz="2756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DA2-6F35-4111-ACB3-E2300C0C7C15}" type="datetimeFigureOut">
              <a:rPr lang="en-GB" smtClean="0"/>
              <a:t>14/10/2024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CB9A-9BA4-4F40-AC33-1A1DB0F02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4069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DA2-6F35-4111-ACB3-E2300C0C7C15}" type="datetimeFigureOut">
              <a:rPr lang="en-GB" smtClean="0"/>
              <a:t>14/10/2024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CB9A-9BA4-4F40-AC33-1A1DB0F02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0168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8033733" y="1916653"/>
            <a:ext cx="5433745" cy="3050811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32500" y="1916653"/>
            <a:ext cx="15986234" cy="3050811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DA2-6F35-4111-ACB3-E2300C0C7C15}" type="datetimeFigureOut">
              <a:rPr lang="en-GB" smtClean="0"/>
              <a:t>14/10/2024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CB9A-9BA4-4F40-AC33-1A1DB0F02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089251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32499" y="1916661"/>
            <a:ext cx="21734978" cy="69582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2499" y="9583264"/>
            <a:ext cx="21734978" cy="228415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732498" y="33366432"/>
            <a:ext cx="5669994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3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F86DA2-6F35-4111-ACB3-E2300C0C7C15}" type="datetimeFigureOut">
              <a:rPr lang="en-GB" smtClean="0"/>
              <a:t>14/10/2024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47492" y="33366432"/>
            <a:ext cx="8504992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3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797483" y="33366432"/>
            <a:ext cx="5669994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3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C2CB9A-9BA4-4F40-AC33-1A1DB0F02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2802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519995" rtl="0" eaLnBrk="1" latinLnBrk="0" hangingPunct="1">
        <a:lnSpc>
          <a:spcPct val="90000"/>
        </a:lnSpc>
        <a:spcBef>
          <a:spcPct val="0"/>
        </a:spcBef>
        <a:buNone/>
        <a:defRPr sz="1212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29999" indent="-629999" algn="l" defTabSz="2519995" rtl="0" eaLnBrk="1" latinLnBrk="0" hangingPunct="1">
        <a:lnSpc>
          <a:spcPct val="90000"/>
        </a:lnSpc>
        <a:spcBef>
          <a:spcPts val="2756"/>
        </a:spcBef>
        <a:buFont typeface="Arial" panose="020B0604020202020204" pitchFamily="34" charset="0"/>
        <a:buChar char="•"/>
        <a:defRPr sz="7717" kern="1200">
          <a:solidFill>
            <a:schemeClr val="tx1"/>
          </a:solidFill>
          <a:latin typeface="+mn-lt"/>
          <a:ea typeface="+mn-ea"/>
          <a:cs typeface="+mn-cs"/>
        </a:defRPr>
      </a:lvl1pPr>
      <a:lvl2pPr marL="1889996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2pPr>
      <a:lvl3pPr marL="3149994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5512" kern="1200">
          <a:solidFill>
            <a:schemeClr val="tx1"/>
          </a:solidFill>
          <a:latin typeface="+mn-lt"/>
          <a:ea typeface="+mn-ea"/>
          <a:cs typeface="+mn-cs"/>
        </a:defRPr>
      </a:lvl3pPr>
      <a:lvl4pPr marL="4409991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4pPr>
      <a:lvl5pPr marL="5669989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5pPr>
      <a:lvl6pPr marL="6929986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6pPr>
      <a:lvl7pPr marL="8189984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7pPr>
      <a:lvl8pPr marL="9449981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8pPr>
      <a:lvl9pPr marL="10709979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1pPr>
      <a:lvl2pPr marL="1259997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2pPr>
      <a:lvl3pPr marL="2519995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3pPr>
      <a:lvl4pPr marL="3779992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4pPr>
      <a:lvl5pPr marL="5039990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5pPr>
      <a:lvl6pPr marL="6299987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6pPr>
      <a:lvl7pPr marL="7559985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7pPr>
      <a:lvl8pPr marL="8819982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8pPr>
      <a:lvl9pPr marL="10079980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Relationship Id="rId3" Type="http://schemas.openxmlformats.org/officeDocument/2006/relationships/hyperlink" Target="https://academic.hit.ac.il/students/computing-services/labs/laboratories-list/Center_of_Computer_Labs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E55D3C5-B04D-41A5-9B17-C157FCAEF5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0088567"/>
              </p:ext>
            </p:extLst>
          </p:nvPr>
        </p:nvGraphicFramePr>
        <p:xfrm>
          <a:off x="818147" y="665380"/>
          <a:ext cx="23509706" cy="3563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58590">
                  <a:extLst>
                    <a:ext uri="{9D8B030D-6E8A-4147-A177-3AD203B41FA5}">
                      <a16:colId xmlns:a16="http://schemas.microsoft.com/office/drawing/2014/main" val="4092810084"/>
                    </a:ext>
                  </a:extLst>
                </a:gridCol>
                <a:gridCol w="13210674">
                  <a:extLst>
                    <a:ext uri="{9D8B030D-6E8A-4147-A177-3AD203B41FA5}">
                      <a16:colId xmlns:a16="http://schemas.microsoft.com/office/drawing/2014/main" val="3944608498"/>
                    </a:ext>
                  </a:extLst>
                </a:gridCol>
                <a:gridCol w="4740442">
                  <a:extLst>
                    <a:ext uri="{9D8B030D-6E8A-4147-A177-3AD203B41FA5}">
                      <a16:colId xmlns:a16="http://schemas.microsoft.com/office/drawing/2014/main" val="3295376166"/>
                    </a:ext>
                  </a:extLst>
                </a:gridCol>
              </a:tblGrid>
              <a:tr h="1781860">
                <a:tc>
                  <a:txBody>
                    <a:bodyPr/>
                    <a:lstStyle/>
                    <a:p>
                      <a:pPr marL="0" marR="0" lvl="0" indent="0" algn="ctr" defTabSz="251999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dirty="0" smtClean="0">
                          <a:solidFill>
                            <a:srgbClr val="0A2540"/>
                          </a:solidFill>
                        </a:rPr>
                        <a:t>Introduction to AI-Driven Cyber Security</a:t>
                      </a:r>
                      <a:endParaRPr lang="en-GB" sz="4000" dirty="0"/>
                    </a:p>
                  </a:txBody>
                  <a:tcPr anchor="ctr">
                    <a:solidFill>
                      <a:srgbClr val="00999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600" dirty="0" smtClean="0">
                          <a:solidFill>
                            <a:srgbClr val="0A2540"/>
                          </a:solidFill>
                        </a:rPr>
                        <a:t>Malware Classification via PE Header Analysis</a:t>
                      </a:r>
                      <a:endParaRPr lang="he-IL" sz="7600" dirty="0" smtClean="0"/>
                    </a:p>
                    <a:p>
                      <a:pPr algn="ct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5400" dirty="0" smtClean="0">
                          <a:solidFill>
                            <a:srgbClr val="0A2540"/>
                          </a:solidFill>
                        </a:rPr>
                        <a:t>Shai Shotashvili</a:t>
                      </a:r>
                    </a:p>
                    <a:p>
                      <a:pPr algn="ct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4000" b="1" kern="1200" dirty="0" smtClean="0">
                          <a:solidFill>
                            <a:srgbClr val="0A2540"/>
                          </a:solidFill>
                          <a:latin typeface="+mn-lt"/>
                          <a:ea typeface="+mn-ea"/>
                          <a:cs typeface="+mn-cs"/>
                        </a:rPr>
                        <a:t>Spring Semester, 2026</a:t>
                      </a:r>
                      <a:endParaRPr lang="en-GB" sz="4000" b="1" kern="1200" dirty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t" marT="72000" marB="18000">
                    <a:solidFill>
                      <a:srgbClr val="009999"/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00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2067825"/>
                  </a:ext>
                </a:extLst>
              </a:tr>
              <a:tr h="1781860">
                <a:tc>
                  <a:txBody>
                    <a:bodyPr/>
                    <a:lstStyle/>
                    <a:p>
                      <a:pPr marL="0" marR="0" lvl="0" indent="0" algn="ctr" defTabSz="251999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5400" b="1" dirty="0" smtClean="0">
                          <a:solidFill>
                            <a:srgbClr val="0A2540"/>
                          </a:solidFill>
                        </a:rPr>
                        <a:t>Yakov Damatov</a:t>
                      </a:r>
                      <a:endParaRPr lang="en-GB" sz="5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999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7700668"/>
                  </a:ext>
                </a:extLst>
              </a:tr>
            </a:tbl>
          </a:graphicData>
        </a:graphic>
      </p:graphicFrame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2E9B59-38DC-46AD-A4E5-9A55979323A6}"/>
              </a:ext>
            </a:extLst>
          </p:cNvPr>
          <p:cNvSpPr/>
          <p:nvPr/>
        </p:nvSpPr>
        <p:spPr>
          <a:xfrm>
            <a:off x="818147" y="4591050"/>
            <a:ext cx="23509706" cy="30743308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A254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46410" y="921852"/>
            <a:ext cx="4378492" cy="30923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04000" y="4896000"/>
            <a:ext cx="10728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0A2540"/>
                </a:solidFill>
                <a:latin typeface="Calibri"/>
              </a:rPr>
              <a:t>Introduction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404000" y="5526000"/>
            <a:ext cx="3240000" cy="64800"/>
          </a:xfrm>
          <a:prstGeom prst="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04000" y="5652000"/>
            <a:ext cx="10728000" cy="48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3400" b="0">
                <a:solidFill>
                  <a:srgbClr val="1C2B36"/>
                </a:solidFill>
                <a:latin typeface="Calibri"/>
              </a:rPr>
              <a:t>Modern malware uses packing and encryption to evade signature-based antivirus. MalwareGuard is an AI-driven defensive tool that classifies Windows executables as benign or malicious from the structural metadata in their PE (Portable Executable) headers — signals attackers cannot hide without breaking the file.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3400" b="1">
                <a:solidFill>
                  <a:srgbClr val="0A2540"/>
                </a:solidFill>
                <a:latin typeface="Calibri"/>
              </a:rPr>
              <a:t>Goals: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3400" b="0">
                <a:solidFill>
                  <a:srgbClr val="1C2B36"/>
                </a:solidFill>
                <a:latin typeface="Calibri"/>
              </a:rPr>
              <a:t>•  Build an ML classifier from PE-header features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3400" b="0">
                <a:solidFill>
                  <a:srgbClr val="1C2B36"/>
                </a:solidFill>
                <a:latin typeface="Calibri"/>
              </a:rPr>
              <a:t>•  Test its robustness to adversarial evasion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3400" b="0">
                <a:solidFill>
                  <a:srgbClr val="1C2B36"/>
                </a:solidFill>
                <a:latin typeface="Calibri"/>
              </a:rPr>
              <a:t>•  Deliver an analyst MVP with logging &amp; alerting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04000" y="11664000"/>
            <a:ext cx="10728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0A2540"/>
                </a:solidFill>
                <a:latin typeface="Calibri"/>
              </a:rPr>
              <a:t>Methodology &amp; System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1404000" y="12294000"/>
            <a:ext cx="3240000" cy="64800"/>
          </a:xfrm>
          <a:prstGeom prst="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4000" y="12420000"/>
            <a:ext cx="10728000" cy="3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3400" b="0">
                <a:solidFill>
                  <a:srgbClr val="1C2B36"/>
                </a:solidFill>
                <a:latin typeface="Calibri"/>
              </a:rPr>
              <a:t>•  Data: 1,000 labeled samples — VirtualSize, Entropy, NumberOfSections, Characteristics (80/20 split)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3400" b="0">
                <a:solidFill>
                  <a:srgbClr val="1C2B36"/>
                </a:solidFill>
                <a:latin typeface="Calibri"/>
              </a:rPr>
              <a:t>•  Model: Random Forest (100 trees); baseline = threshold heuristic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3400" b="0">
                <a:solidFill>
                  <a:srgbClr val="1C2B36"/>
                </a:solidFill>
                <a:latin typeface="Calibri"/>
              </a:rPr>
              <a:t>•  Stack: Python · scikit-learn · Streamlit · Joblib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3400" b="0">
                <a:solidFill>
                  <a:srgbClr val="1C2B36"/>
                </a:solidFill>
                <a:latin typeface="Calibri"/>
              </a:rPr>
              <a:t>•  Pipeline: features → inference → prediction + confidence → audit log + visual alert</a:t>
            </a:r>
          </a:p>
        </p:txBody>
      </p:sp>
      <p:pic>
        <p:nvPicPr>
          <p:cNvPr id="11" name="Picture 10" descr="fig_separ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8000" y="16704000"/>
            <a:ext cx="9360000" cy="6578264"/>
          </a:xfrm>
          <a:prstGeom prst="rect">
            <a:avLst/>
          </a:prstGeom>
        </p:spPr>
      </p:pic>
      <p:pic>
        <p:nvPicPr>
          <p:cNvPr id="12" name="Picture 11" descr="fig_importan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8000" y="24192000"/>
            <a:ext cx="9360000" cy="55110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816000" y="4896000"/>
            <a:ext cx="10728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0A2540"/>
                </a:solidFill>
                <a:latin typeface="Calibri"/>
              </a:rPr>
              <a:t>Results &amp; Evaluation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816000" y="5526000"/>
            <a:ext cx="3240000" cy="64800"/>
          </a:xfrm>
          <a:prstGeom prst="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16000" y="5652000"/>
            <a:ext cx="10728000" cy="34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3400" b="0">
                <a:solidFill>
                  <a:srgbClr val="1C2B36"/>
                </a:solidFill>
                <a:latin typeface="Calibri"/>
              </a:rPr>
              <a:t>•  100% accuracy / F1 = 1.0 on the held-out test set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3400" b="0">
                <a:solidFill>
                  <a:srgbClr val="1C2B36"/>
                </a:solidFill>
                <a:latin typeface="Calibri"/>
              </a:rPr>
              <a:t>•  Entropy &amp; VirtualSize are the most discriminative features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3400" b="0">
                <a:solidFill>
                  <a:srgbClr val="1C2B36"/>
                </a:solidFill>
                <a:latin typeface="Calibri"/>
              </a:rPr>
              <a:t>•  Adversarial test: raising Entropy + VirtualSize flips a benign file to “Malware” exactly as it enters the malicious range — the model reacts to the intended security signals</a:t>
            </a:r>
          </a:p>
        </p:txBody>
      </p:sp>
      <p:pic>
        <p:nvPicPr>
          <p:cNvPr id="16" name="Picture 15" descr="fig_confus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56000" y="9144000"/>
            <a:ext cx="4860000" cy="4356220"/>
          </a:xfrm>
          <a:prstGeom prst="rect">
            <a:avLst/>
          </a:prstGeom>
        </p:spPr>
      </p:pic>
      <p:pic>
        <p:nvPicPr>
          <p:cNvPr id="17" name="Picture 16" descr="fig_adversari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320000" y="13824000"/>
            <a:ext cx="9720000" cy="553813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2816000" y="20664000"/>
            <a:ext cx="10728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0A2540"/>
                </a:solidFill>
                <a:latin typeface="Calibri"/>
              </a:rPr>
              <a:t>Conclusions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816000" y="21294000"/>
            <a:ext cx="3240000" cy="64800"/>
          </a:xfrm>
          <a:prstGeom prst="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816000" y="21420000"/>
            <a:ext cx="10728000" cy="3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3400" b="0">
                <a:solidFill>
                  <a:srgbClr val="1C2B36"/>
                </a:solidFill>
                <a:latin typeface="Calibri"/>
              </a:rPr>
              <a:t>•  All three goals achieved: working classifier, robustness evaluation, deployable MVP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3400" b="0">
                <a:solidFill>
                  <a:srgbClr val="1C2B36"/>
                </a:solidFill>
                <a:latin typeface="Calibri"/>
              </a:rPr>
              <a:t>•  Structural PE-header analysis is an effective, lightweight complement to signature-based detection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3400" b="0">
                <a:solidFill>
                  <a:srgbClr val="1C2B36"/>
                </a:solidFill>
                <a:latin typeface="Calibri"/>
              </a:rPr>
              <a:t>•  Results meet the targets defined at project start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16000" y="25272000"/>
            <a:ext cx="10728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0A2540"/>
                </a:solidFill>
                <a:latin typeface="Calibri"/>
              </a:rPr>
              <a:t>Discussions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816000" y="25902000"/>
            <a:ext cx="3240000" cy="64800"/>
          </a:xfrm>
          <a:prstGeom prst="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816000" y="26028000"/>
            <a:ext cx="8028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3400" b="1">
                <a:solidFill>
                  <a:srgbClr val="0A2540"/>
                </a:solidFill>
                <a:latin typeface="Calibri"/>
              </a:rPr>
              <a:t>Future work: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3400" b="0">
                <a:solidFill>
                  <a:srgbClr val="1C2B36"/>
                </a:solidFill>
                <a:latin typeface="Calibri"/>
              </a:rPr>
              <a:t>•  Retrain on real corpora (EMBER, MalwareBazaar)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3400" b="0">
                <a:solidFill>
                  <a:srgbClr val="1C2B36"/>
                </a:solidFill>
                <a:latin typeface="Calibri"/>
              </a:rPr>
              <a:t>•  Add deep models (CNN/LSTM) over API-call / byte sequences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3400" b="0">
                <a:solidFill>
                  <a:srgbClr val="1C2B36"/>
                </a:solidFill>
                <a:latin typeface="Calibri"/>
              </a:rPr>
              <a:t>•  Harden against entropy-balancing evasion; integrate into a SOC triage pipeline</a:t>
            </a:r>
          </a:p>
        </p:txBody>
      </p:sp>
      <p:pic>
        <p:nvPicPr>
          <p:cNvPr id="24" name="Picture 23" descr="qr_rep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952000" y="30960000"/>
            <a:ext cx="2376000" cy="23760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20412000" y="33408000"/>
            <a:ext cx="3456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A2540"/>
                </a:solidFill>
                <a:latin typeface="Calibri"/>
              </a:rPr>
              <a:t>Source code &amp; video ▶</a:t>
            </a:r>
          </a:p>
        </p:txBody>
      </p:sp>
    </p:spTree>
    <p:extLst>
      <p:ext uri="{BB962C8B-B14F-4D97-AF65-F5344CB8AC3E}">
        <p14:creationId xmlns:p14="http://schemas.microsoft.com/office/powerpoint/2010/main" val="13604581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4187</TotalTime>
  <Words>376</Words>
  <Application>Microsoft Office PowerPoint</Application>
  <PresentationFormat>Custom</PresentationFormat>
  <Paragraphs>31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Dmitry Patashov</dc:creator>
  <cp:lastModifiedBy>Yakov Damatov</cp:lastModifiedBy>
  <cp:revision>52</cp:revision>
  <dcterms:created xsi:type="dcterms:W3CDTF">2019-01-27T10:54:29Z</dcterms:created>
  <dcterms:modified xsi:type="dcterms:W3CDTF">2024-10-15T06:30:20Z</dcterms:modified>
</cp:coreProperties>
</file>